
<file path=[Content_Types].xml><?xml version="1.0" encoding="utf-8"?>
<Types xmlns="http://schemas.openxmlformats.org/package/2006/content-types"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schemas.openxmlformats.org/officeDocument/2006/relationships/slide" Target="slides/slide19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b4e31faacf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b4e31faacf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4e31faac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4e31faac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b4e31faacf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b4e31faac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4e31faacf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4e31faacf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4e31faacf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4e31faacf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b4e31faacf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b4e31faacf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b4e31faacf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b4e31faacf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b4e31faacf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b4e31faacf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b4e31faacf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b4e31faacf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b4e31faacf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b4e31faacf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4e31faacf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b4e31faacf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b4e31faacf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b4e31faacf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b4e31faacf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b4e31faacf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b4e31faacf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b4e31faacf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b4e31faacf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b4e31faacf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b4e31faacf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b4e31faacf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b4e31faacf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b4e31faacf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b4e31faacf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b4e31faacf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en.wikipedia.org/wiki/Craig_Reynolds_(computer_graphics)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gif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s" sz="5000"/>
              <a:t>Rozšířená</a:t>
            </a:r>
            <a:r>
              <a:rPr lang="cs" sz="5000"/>
              <a:t> Hejnová Simulace</a:t>
            </a:r>
            <a:endParaRPr sz="50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Jan Koča</a:t>
            </a:r>
            <a:endParaRPr/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5044600" y="4194550"/>
            <a:ext cx="3906300" cy="51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s" sz="2100"/>
              <a:t>5.1.2026</a:t>
            </a:r>
            <a:endParaRPr sz="2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18798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cs" sz="3920"/>
              <a:t>Algoritmus</a:t>
            </a:r>
            <a:endParaRPr sz="392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Boid Simulace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s"/>
              <a:t>agenti: boids -&gt; ‘bird-oid’ objekty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cs"/>
              <a:t>simulace hejnového chování ptáků (obecně skupinový pohyb)</a:t>
            </a:r>
            <a:endParaRPr sz="2100">
              <a:solidFill>
                <a:srgbClr val="E8EAED"/>
              </a:solidFill>
              <a:highlight>
                <a:srgbClr val="303134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cs"/>
              <a:t>publikováno </a:t>
            </a:r>
            <a:r>
              <a:rPr lang="cs">
                <a:uFill>
                  <a:noFill/>
                </a:uFill>
                <a:hlinkClick r:id="rId3"/>
              </a:rPr>
              <a:t>Craigem Reynolds</a:t>
            </a:r>
            <a:r>
              <a:rPr lang="cs"/>
              <a:t>em v roce 1987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cs"/>
              <a:t>komplexní pohyb skupiny na základě jednoduchých pravidel jednotlivce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Základní pravidla</a:t>
            </a:r>
            <a:endParaRPr/>
          </a:p>
        </p:txBody>
      </p:sp>
      <p:pic>
        <p:nvPicPr>
          <p:cNvPr id="73" name="Google Shape;7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800" y="1752139"/>
            <a:ext cx="2861450" cy="2186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41274" y="1752125"/>
            <a:ext cx="2861443" cy="218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17750" y="1752137"/>
            <a:ext cx="2861450" cy="21868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Rozšíření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84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30"/>
              <a:buChar char="-"/>
            </a:pPr>
            <a:r>
              <a:rPr lang="cs" sz="1729"/>
              <a:t>druhy agentů: základní, predátor, překážka</a:t>
            </a:r>
            <a:endParaRPr sz="1729"/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729"/>
          </a:p>
          <a:p>
            <a:pPr indent="-338455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730"/>
              <a:buChar char="-"/>
            </a:pPr>
            <a:r>
              <a:rPr lang="cs" sz="1729"/>
              <a:t>2D/3D prostředí</a:t>
            </a:r>
            <a:endParaRPr sz="1729"/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729"/>
          </a:p>
          <a:p>
            <a:pPr indent="-338455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730"/>
              <a:buChar char="-"/>
            </a:pPr>
            <a:r>
              <a:rPr lang="cs" sz="1729"/>
              <a:t>‘zabalené’/pevné hranice</a:t>
            </a:r>
            <a:endParaRPr sz="1729"/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729"/>
          </a:p>
          <a:p>
            <a:pPr indent="-338455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730"/>
              <a:buChar char="-"/>
            </a:pPr>
            <a:r>
              <a:rPr lang="cs" sz="1729"/>
              <a:t>cílový bod</a:t>
            </a:r>
            <a:endParaRPr sz="1729"/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729"/>
          </a:p>
          <a:p>
            <a:pPr indent="-338455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730"/>
              <a:buChar char="-"/>
            </a:pPr>
            <a:r>
              <a:rPr lang="cs" sz="1729"/>
              <a:t>uživatelské interakce</a:t>
            </a:r>
            <a:endParaRPr sz="1729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43850"/>
            <a:ext cx="8839198" cy="44558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18798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cs" sz="3920"/>
              <a:t>Implementace</a:t>
            </a:r>
            <a:endParaRPr sz="392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Implementace (rozhraní)</a:t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s"/>
              <a:t>aplikace se 2 m</a:t>
            </a:r>
            <a:r>
              <a:rPr lang="cs"/>
              <a:t>ódy (interaktivní, experimentační)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s"/>
              <a:t>nastavení prostřednictvím konfiguračních souborů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s"/>
              <a:t>interaktivní mód: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cs"/>
              <a:t>grafické rozhraní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cs"/>
              <a:t>dynamická změna parametrů simulace a dané verze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cs"/>
              <a:t>dynamická změna verze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cs"/>
              <a:t>interakce s prostředím (změna 2D/3D, mód hranice, atrakce, repulze, etc.)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s"/>
              <a:t>experimentační mód: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cs"/>
              <a:t>nastavitelné prostředí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cs"/>
              <a:t>modulární návrh experimentů a měření (aktuálně 2 experimenty)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s"/>
              <a:t>unit testy pro vybrané kernely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cs"/>
              <a:t>Implementace (algoritmus)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cs" sz="2000"/>
              <a:t>4 základní verze</a:t>
            </a:r>
            <a:endParaRPr sz="20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cs" sz="1600"/>
              <a:t>2 CPU verze:</a:t>
            </a:r>
            <a:endParaRPr sz="1600"/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cs" sz="1600"/>
              <a:t>naivní (každý s každým)</a:t>
            </a:r>
            <a:endParaRPr sz="1600"/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cs" sz="1600"/>
              <a:t>se mřížkou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cs" sz="1600"/>
              <a:t>2 GPU verze:</a:t>
            </a:r>
            <a:endParaRPr sz="1600"/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cs" sz="1600"/>
              <a:t>naivní (každý s každým)</a:t>
            </a:r>
            <a:endParaRPr sz="1600"/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cs" sz="1600"/>
              <a:t>se mřížkou</a:t>
            </a:r>
            <a:endParaRPr sz="1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Implementace (mřížka)</a:t>
            </a:r>
            <a:endParaRPr/>
          </a:p>
        </p:txBody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cs"/>
              <a:t>rozdělení simulačního prostoru do rovnoměrných buněk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cs"/>
              <a:t>zatřídění</a:t>
            </a:r>
            <a:r>
              <a:rPr lang="cs"/>
              <a:t> každého agenta dle pozice do bu</a:t>
            </a:r>
            <a:r>
              <a:rPr lang="cs"/>
              <a:t>ňky v prostoru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cs"/>
              <a:t>vyhledávání sousedů ve své a okolních bu</a:t>
            </a:r>
            <a:r>
              <a:rPr lang="cs"/>
              <a:t>ňkách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cs"/>
              <a:t>2D: 9 buněk X 3D: 27 buněk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cs"/>
              <a:t>problém: 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cs"/>
              <a:t>pomůže pouze pokud nejsou agenti příliš koncentrování na malém prostoru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cs"/>
              <a:t>může zpomalit </a:t>
            </a:r>
            <a:r>
              <a:rPr lang="cs"/>
              <a:t>(overhead)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Implementace (GPU)</a:t>
            </a:r>
            <a:endParaRPr/>
          </a:p>
        </p:txBody>
      </p:sp>
      <p:pic>
        <p:nvPicPr>
          <p:cNvPr id="115" name="Google Shape;11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7275" y="1196072"/>
            <a:ext cx="6549451" cy="3641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>
            <a:off x="311700" y="18798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cs" sz="3920"/>
              <a:t>Experimenty</a:t>
            </a:r>
            <a:endParaRPr sz="392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Experimenty</a:t>
            </a:r>
            <a:endParaRPr/>
          </a:p>
        </p:txBody>
      </p:sp>
      <p:sp>
        <p:nvSpPr>
          <p:cNvPr id="126" name="Google Shape;126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s"/>
              <a:t>spuštění simulace -&gt; čekání na pokročilejší stav </a:t>
            </a:r>
            <a:r>
              <a:rPr lang="cs"/>
              <a:t>(100 kroků) </a:t>
            </a:r>
            <a:r>
              <a:rPr lang="cs"/>
              <a:t>-&gt; měření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s"/>
              <a:t>warp-up kroky před každým měřením (5 kroků)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s"/>
              <a:t>2 základní experimenty: 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cs"/>
              <a:t>1. měření času jednoho kroku simulace pro každou verzi (průměr z 15 kroků)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cs"/>
              <a:t>2. ukládání stavu simulace (kontrola korektnosti)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s"/>
              <a:t>5 scénářů: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cs"/>
              <a:t>1. pouze základní agenti </a:t>
            </a:r>
            <a:r>
              <a:rPr lang="cs"/>
              <a:t>(bez interakcí)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cs"/>
              <a:t>2. </a:t>
            </a:r>
            <a:r>
              <a:rPr lang="cs"/>
              <a:t>zákl. agenti (bez interakcí) + překážky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cs"/>
              <a:t>3. zákl. agenti (bez interakcí) + překážky + predátoři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cs"/>
              <a:t>4. zákl. agenti + 1 překážka + 1 predátor (2D)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cs"/>
              <a:t>5. zákl. agenti + 1 překážka + 1 predátor (3D)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Ukázka experimentu (100 zákl., 50 přek., 10 pred.)</a:t>
            </a:r>
            <a:endParaRPr/>
          </a:p>
        </p:txBody>
      </p:sp>
      <p:pic>
        <p:nvPicPr>
          <p:cNvPr id="132" name="Google Shape;132;p26" title="boids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6800" y="1117225"/>
            <a:ext cx="6750390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Scén</a:t>
            </a:r>
            <a:r>
              <a:rPr lang="cs"/>
              <a:t>ář: </a:t>
            </a:r>
            <a:r>
              <a:rPr lang="cs"/>
              <a:t>1. pouze základní agenti (bez interakcí)</a:t>
            </a:r>
            <a:endParaRPr/>
          </a:p>
        </p:txBody>
      </p:sp>
      <p:pic>
        <p:nvPicPr>
          <p:cNvPr id="138" name="Google Shape;138;p27" title="timed_execution_results_5000_5000_parallelNaive_parallel_sequentialNaive_sequentia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4675" y="1134875"/>
            <a:ext cx="5094634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Scén</a:t>
            </a:r>
            <a:r>
              <a:rPr lang="cs"/>
              <a:t>ář: </a:t>
            </a:r>
            <a:r>
              <a:rPr lang="cs"/>
              <a:t>5. zákl. agenti + 1 překážka + 1 predátor (3D)</a:t>
            </a:r>
            <a:endParaRPr/>
          </a:p>
        </p:txBody>
      </p:sp>
      <p:pic>
        <p:nvPicPr>
          <p:cNvPr id="144" name="Google Shape;144;p28" title="timed_execution_results_5000_5000_parallelNaive_parallel_sequentialNaive_sequentia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4688" y="1126025"/>
            <a:ext cx="5094634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Scénář: 1. pouze základní agenti (bez interakcí)</a:t>
            </a:r>
            <a:endParaRPr/>
          </a:p>
        </p:txBody>
      </p:sp>
      <p:pic>
        <p:nvPicPr>
          <p:cNvPr id="150" name="Google Shape;150;p29" title="timed_execution_results_50000_50000_parallelNaive_paralle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4675" y="1145200"/>
            <a:ext cx="5094634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Scénář: 5. zákl. agenti + 1 překážka + 1 predátor (3D)</a:t>
            </a:r>
            <a:endParaRPr/>
          </a:p>
        </p:txBody>
      </p:sp>
      <p:pic>
        <p:nvPicPr>
          <p:cNvPr id="156" name="Google Shape;156;p30" title="timed_execution_results_50000_50000_parallelNaive_paralle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4675" y="1095325"/>
            <a:ext cx="5094634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1"/>
          <p:cNvSpPr txBox="1"/>
          <p:nvPr>
            <p:ph type="title"/>
          </p:nvPr>
        </p:nvSpPr>
        <p:spPr>
          <a:xfrm>
            <a:off x="311700" y="18798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cs" sz="3920"/>
              <a:t>Děkuji za pozornost!</a:t>
            </a:r>
            <a:endParaRPr sz="392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